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60" r:id="rId4"/>
    <p:sldId id="258" r:id="rId5"/>
    <p:sldId id="262" r:id="rId6"/>
    <p:sldId id="264" r:id="rId7"/>
    <p:sldId id="263" r:id="rId8"/>
    <p:sldId id="265" r:id="rId9"/>
    <p:sldId id="266" r:id="rId10"/>
    <p:sldId id="25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8" d="100"/>
          <a:sy n="98" d="100"/>
        </p:scale>
        <p:origin x="110"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60E249D-82C7-4639-8806-66C10758C4DA}" type="datetimeFigureOut">
              <a:rPr lang="en-IN" smtClean="0"/>
              <a:t>19-06-2026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86824D6E-20DF-4B28-9A28-D4F2E59E5032}"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3742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0E249D-82C7-4639-8806-66C10758C4DA}"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6824D6E-20DF-4B28-9A28-D4F2E59E5032}" type="slidenum">
              <a:rPr lang="en-IN" smtClean="0"/>
              <a:t>‹#›</a:t>
            </a:fld>
            <a:endParaRPr lang="en-IN"/>
          </a:p>
        </p:txBody>
      </p:sp>
    </p:spTree>
    <p:extLst>
      <p:ext uri="{BB962C8B-B14F-4D97-AF65-F5344CB8AC3E}">
        <p14:creationId xmlns:p14="http://schemas.microsoft.com/office/powerpoint/2010/main" val="3842044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0E249D-82C7-4639-8806-66C10758C4DA}"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6824D6E-20DF-4B28-9A28-D4F2E59E5032}"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7287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0E249D-82C7-4639-8806-66C10758C4DA}"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6824D6E-20DF-4B28-9A28-D4F2E59E5032}" type="slidenum">
              <a:rPr lang="en-IN" smtClean="0"/>
              <a:t>‹#›</a:t>
            </a:fld>
            <a:endParaRPr lang="en-IN"/>
          </a:p>
        </p:txBody>
      </p:sp>
    </p:spTree>
    <p:extLst>
      <p:ext uri="{BB962C8B-B14F-4D97-AF65-F5344CB8AC3E}">
        <p14:creationId xmlns:p14="http://schemas.microsoft.com/office/powerpoint/2010/main" val="847296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0E249D-82C7-4639-8806-66C10758C4DA}" type="datetimeFigureOut">
              <a:rPr lang="en-IN" smtClean="0"/>
              <a:t>19-06-2026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6824D6E-20DF-4B28-9A28-D4F2E59E5032}"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5514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0E249D-82C7-4639-8806-66C10758C4DA}" type="datetimeFigureOut">
              <a:rPr lang="en-IN" smtClean="0"/>
              <a:t>19-06-2026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6824D6E-20DF-4B28-9A28-D4F2E59E5032}"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6769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0E249D-82C7-4639-8806-66C10758C4DA}" type="datetimeFigureOut">
              <a:rPr lang="en-IN" smtClean="0"/>
              <a:t>19-06-2026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6824D6E-20DF-4B28-9A28-D4F2E59E5032}" type="slidenum">
              <a:rPr lang="en-IN" smtClean="0"/>
              <a:t>‹#›</a:t>
            </a:fld>
            <a:endParaRPr lang="en-IN"/>
          </a:p>
        </p:txBody>
      </p:sp>
    </p:spTree>
    <p:extLst>
      <p:ext uri="{BB962C8B-B14F-4D97-AF65-F5344CB8AC3E}">
        <p14:creationId xmlns:p14="http://schemas.microsoft.com/office/powerpoint/2010/main" val="3970632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0E249D-82C7-4639-8806-66C10758C4DA}"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6824D6E-20DF-4B28-9A28-D4F2E59E5032}"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9233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0E249D-82C7-4639-8806-66C10758C4DA}"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6824D6E-20DF-4B28-9A28-D4F2E59E5032}" type="slidenum">
              <a:rPr lang="en-IN" smtClean="0"/>
              <a:t>‹#›</a:t>
            </a:fld>
            <a:endParaRPr lang="en-IN"/>
          </a:p>
        </p:txBody>
      </p:sp>
    </p:spTree>
    <p:extLst>
      <p:ext uri="{BB962C8B-B14F-4D97-AF65-F5344CB8AC3E}">
        <p14:creationId xmlns:p14="http://schemas.microsoft.com/office/powerpoint/2010/main" val="3159202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0E249D-82C7-4639-8806-66C10758C4DA}"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6824D6E-20DF-4B28-9A28-D4F2E59E5032}" type="slidenum">
              <a:rPr lang="en-IN" smtClean="0"/>
              <a:t>‹#›</a:t>
            </a:fld>
            <a:endParaRPr lang="en-IN"/>
          </a:p>
        </p:txBody>
      </p:sp>
    </p:spTree>
    <p:extLst>
      <p:ext uri="{BB962C8B-B14F-4D97-AF65-F5344CB8AC3E}">
        <p14:creationId xmlns:p14="http://schemas.microsoft.com/office/powerpoint/2010/main" val="2258642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0E249D-82C7-4639-8806-66C10758C4DA}"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6824D6E-20DF-4B28-9A28-D4F2E59E5032}"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9797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0E249D-82C7-4639-8806-66C10758C4DA}"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6824D6E-20DF-4B28-9A28-D4F2E59E5032}"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0387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0E249D-82C7-4639-8806-66C10758C4DA}"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6824D6E-20DF-4B28-9A28-D4F2E59E5032}" type="slidenum">
              <a:rPr lang="en-IN" smtClean="0"/>
              <a:t>‹#›</a:t>
            </a:fld>
            <a:endParaRPr lang="en-IN"/>
          </a:p>
        </p:txBody>
      </p:sp>
    </p:spTree>
    <p:extLst>
      <p:ext uri="{BB962C8B-B14F-4D97-AF65-F5344CB8AC3E}">
        <p14:creationId xmlns:p14="http://schemas.microsoft.com/office/powerpoint/2010/main" val="777668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0E249D-82C7-4639-8806-66C10758C4DA}"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6824D6E-20DF-4B28-9A28-D4F2E59E5032}"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8808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0E249D-82C7-4639-8806-66C10758C4DA}"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6824D6E-20DF-4B28-9A28-D4F2E59E5032}"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5622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0E249D-82C7-4639-8806-66C10758C4DA}"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6824D6E-20DF-4B28-9A28-D4F2E59E5032}"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50614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0E249D-82C7-4639-8806-66C10758C4DA}"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6824D6E-20DF-4B28-9A28-D4F2E59E5032}"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5206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60E249D-82C7-4639-8806-66C10758C4DA}" type="datetimeFigureOut">
              <a:rPr lang="en-IN" smtClean="0"/>
              <a:t>19-06-2026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6824D6E-20DF-4B28-9A28-D4F2E59E5032}" type="slidenum">
              <a:rPr lang="en-IN" smtClean="0"/>
              <a:t>‹#›</a:t>
            </a:fld>
            <a:endParaRPr lang="en-IN"/>
          </a:p>
        </p:txBody>
      </p:sp>
    </p:spTree>
    <p:extLst>
      <p:ext uri="{BB962C8B-B14F-4D97-AF65-F5344CB8AC3E}">
        <p14:creationId xmlns:p14="http://schemas.microsoft.com/office/powerpoint/2010/main" val="2559200520"/>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1DBCF-1D53-5875-FB73-2B1AC9C2F708}"/>
              </a:ext>
            </a:extLst>
          </p:cNvPr>
          <p:cNvSpPr>
            <a:spLocks noGrp="1"/>
          </p:cNvSpPr>
          <p:nvPr>
            <p:ph type="ctrTitle"/>
          </p:nvPr>
        </p:nvSpPr>
        <p:spPr/>
        <p:txBody>
          <a:bodyPr/>
          <a:lstStyle/>
          <a:p>
            <a:r>
              <a:rPr lang="en-IN" b="1" dirty="0"/>
              <a:t>Hotel Restaurant Reservation System</a:t>
            </a:r>
            <a:endParaRPr lang="en-IN" dirty="0"/>
          </a:p>
        </p:txBody>
      </p:sp>
      <p:sp>
        <p:nvSpPr>
          <p:cNvPr id="3" name="Subtitle 2">
            <a:extLst>
              <a:ext uri="{FF2B5EF4-FFF2-40B4-BE49-F238E27FC236}">
                <a16:creationId xmlns:a16="http://schemas.microsoft.com/office/drawing/2014/main" id="{7A014C9C-B241-138E-BE1B-E069D4F125C0}"/>
              </a:ext>
            </a:extLst>
          </p:cNvPr>
          <p:cNvSpPr>
            <a:spLocks noGrp="1"/>
          </p:cNvSpPr>
          <p:nvPr>
            <p:ph type="subTitle" idx="1"/>
          </p:nvPr>
        </p:nvSpPr>
        <p:spPr/>
        <p:txBody>
          <a:bodyPr>
            <a:normAutofit fontScale="70000" lnSpcReduction="20000"/>
          </a:bodyPr>
          <a:lstStyle/>
          <a:p>
            <a:pPr algn="l"/>
            <a:r>
              <a:rPr lang="en-US" b="1" dirty="0"/>
              <a:t>BATCH:34</a:t>
            </a:r>
            <a:endParaRPr lang="en-IN" b="1" dirty="0"/>
          </a:p>
          <a:p>
            <a:pPr algn="l"/>
            <a:r>
              <a:rPr lang="en-IN" b="1" dirty="0"/>
              <a:t>TEAM MEMBERS : S.PARDHU(2520090043)</a:t>
            </a:r>
          </a:p>
          <a:p>
            <a:pPr algn="l"/>
            <a:r>
              <a:rPr lang="en-IN" b="1" dirty="0"/>
              <a:t>                                 S.VENUGOPAL(2520090185)</a:t>
            </a:r>
          </a:p>
          <a:p>
            <a:r>
              <a:rPr lang="en-IN" dirty="0"/>
              <a:t>   </a:t>
            </a:r>
          </a:p>
          <a:p>
            <a:endParaRPr lang="en-IN" dirty="0"/>
          </a:p>
        </p:txBody>
      </p:sp>
    </p:spTree>
    <p:extLst>
      <p:ext uri="{BB962C8B-B14F-4D97-AF65-F5344CB8AC3E}">
        <p14:creationId xmlns:p14="http://schemas.microsoft.com/office/powerpoint/2010/main" val="245900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EB4348-2888-274B-C07A-2E2830A8701E}"/>
              </a:ext>
            </a:extLst>
          </p:cNvPr>
          <p:cNvSpPr txBox="1"/>
          <p:nvPr/>
        </p:nvSpPr>
        <p:spPr>
          <a:xfrm>
            <a:off x="900283" y="2009932"/>
            <a:ext cx="4562167" cy="461665"/>
          </a:xfrm>
          <a:prstGeom prst="rect">
            <a:avLst/>
          </a:prstGeom>
          <a:noFill/>
        </p:spPr>
        <p:txBody>
          <a:bodyPr wrap="square" rtlCol="0">
            <a:spAutoFit/>
          </a:bodyPr>
          <a:lstStyle/>
          <a:p>
            <a:r>
              <a:rPr lang="en-US" sz="2400" b="1" dirty="0">
                <a:latin typeface="Algerian" panose="04020705040A02060702" pitchFamily="82" charset="0"/>
              </a:rPr>
              <a:t>Abstract:-</a:t>
            </a:r>
            <a:endParaRPr lang="en-IN" sz="2400" b="1" dirty="0">
              <a:latin typeface="Algerian" panose="04020705040A02060702" pitchFamily="82" charset="0"/>
            </a:endParaRPr>
          </a:p>
        </p:txBody>
      </p:sp>
      <p:sp>
        <p:nvSpPr>
          <p:cNvPr id="5" name="TextBox 4">
            <a:extLst>
              <a:ext uri="{FF2B5EF4-FFF2-40B4-BE49-F238E27FC236}">
                <a16:creationId xmlns:a16="http://schemas.microsoft.com/office/drawing/2014/main" id="{B9D09659-3203-4CF4-890D-1C8EF31CE433}"/>
              </a:ext>
            </a:extLst>
          </p:cNvPr>
          <p:cNvSpPr txBox="1"/>
          <p:nvPr/>
        </p:nvSpPr>
        <p:spPr>
          <a:xfrm>
            <a:off x="1977166" y="2471597"/>
            <a:ext cx="8465574" cy="2862322"/>
          </a:xfrm>
          <a:prstGeom prst="rect">
            <a:avLst/>
          </a:prstGeom>
          <a:noFill/>
        </p:spPr>
        <p:txBody>
          <a:bodyPr wrap="square" rtlCol="0">
            <a:spAutoFit/>
          </a:bodyPr>
          <a:lstStyle/>
          <a:p>
            <a:r>
              <a:rPr lang="en-IN" dirty="0"/>
              <a:t>A Hotel Restaurant Reservation System is a web-based or mobile application designed to simplify and automate the process of booking tables in a hotel restaurant. The system allows customers to check availability, select date and time, choose seating preferences, and confirm reservations online, reducing manual effort and waiting time. It provides a user-friendly interface for customers and an efficient management panel for administrators.</a:t>
            </a:r>
          </a:p>
          <a:p>
            <a:r>
              <a:rPr lang="en-IN" dirty="0"/>
              <a:t>The system maintains a centralized database to store customer details, reservation records, and table availability, ensuring accurate and real-time updates. It improves operational efficiency, enhances customer satisfaction, and minimizes booking conflicts. Overall, this system offers a smart, reliable, and time-saving solution for both customers and hotel management.</a:t>
            </a:r>
          </a:p>
        </p:txBody>
      </p:sp>
    </p:spTree>
    <p:extLst>
      <p:ext uri="{BB962C8B-B14F-4D97-AF65-F5344CB8AC3E}">
        <p14:creationId xmlns:p14="http://schemas.microsoft.com/office/powerpoint/2010/main" val="4096611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731BCA-E05B-77D9-56B2-A1DDBBF50075}"/>
              </a:ext>
            </a:extLst>
          </p:cNvPr>
          <p:cNvSpPr txBox="1"/>
          <p:nvPr/>
        </p:nvSpPr>
        <p:spPr>
          <a:xfrm>
            <a:off x="1180124" y="2674947"/>
            <a:ext cx="7909169" cy="1354217"/>
          </a:xfrm>
          <a:prstGeom prst="rect">
            <a:avLst/>
          </a:prstGeom>
          <a:noFill/>
        </p:spPr>
        <p:txBody>
          <a:bodyPr wrap="square" rtlCol="0">
            <a:spAutoFit/>
          </a:bodyPr>
          <a:lstStyle/>
          <a:p>
            <a:r>
              <a:rPr lang="en-IN" sz="2800" b="1" dirty="0">
                <a:latin typeface="Algerian" panose="04020705040A02060702" pitchFamily="82" charset="0"/>
              </a:rPr>
              <a:t>Purpose:-</a:t>
            </a:r>
          </a:p>
          <a:p>
            <a:pPr marL="342900" indent="-342900">
              <a:buAutoNum type="arabicPeriod"/>
            </a:pPr>
            <a:endParaRPr lang="en-IN" b="1" dirty="0">
              <a:latin typeface="Algerian" panose="04020705040A02060702" pitchFamily="82" charset="0"/>
            </a:endParaRPr>
          </a:p>
          <a:p>
            <a:endParaRPr lang="en-IN" b="1" dirty="0">
              <a:latin typeface="Algerian" panose="04020705040A02060702" pitchFamily="82" charset="0"/>
            </a:endParaRPr>
          </a:p>
          <a:p>
            <a:endParaRPr lang="en-IN" dirty="0"/>
          </a:p>
        </p:txBody>
      </p:sp>
      <p:sp>
        <p:nvSpPr>
          <p:cNvPr id="3" name="TextBox 2">
            <a:extLst>
              <a:ext uri="{FF2B5EF4-FFF2-40B4-BE49-F238E27FC236}">
                <a16:creationId xmlns:a16="http://schemas.microsoft.com/office/drawing/2014/main" id="{B577B521-67D5-306F-6C55-CCF0DC6CD4A6}"/>
              </a:ext>
            </a:extLst>
          </p:cNvPr>
          <p:cNvSpPr txBox="1"/>
          <p:nvPr/>
        </p:nvSpPr>
        <p:spPr>
          <a:xfrm>
            <a:off x="2000739" y="3429000"/>
            <a:ext cx="8401538" cy="1200329"/>
          </a:xfrm>
          <a:prstGeom prst="rect">
            <a:avLst/>
          </a:prstGeom>
          <a:noFill/>
        </p:spPr>
        <p:txBody>
          <a:bodyPr wrap="square" rtlCol="0">
            <a:spAutoFit/>
          </a:bodyPr>
          <a:lstStyle/>
          <a:p>
            <a:r>
              <a:rPr lang="en-IN" dirty="0"/>
              <a:t>The purpose of this project is to provide an online platform for customers to reserve hotel rooms and restaurant tables easily. It helps customers check availability, make bookings, and receive confirmations without visiting the hotel physically.</a:t>
            </a:r>
          </a:p>
          <a:p>
            <a:endParaRPr lang="en-IN" dirty="0"/>
          </a:p>
        </p:txBody>
      </p:sp>
      <p:pic>
        <p:nvPicPr>
          <p:cNvPr id="4" name="Picture 3" descr="https://images.openai.com/static-rsc-4/v5HYD0MCyPNz8OhbItvqssdUJnzGD5NJipwFSBuEpQeF9qzhjiN1EJEjg_oSdHi8WQlVnyjVq00iewWtKE_Vp8LYwErLewOQFFWxqn5Chu_yfysXA0ywmWA8vUxvUEr7t2W49cXXLlw_LEqdQiNqi6zhqZdKWeVmYh3XHuLMjy1VQT9gNHxw1gcuQIFKvypQ?purpose=fullsize">
            <a:extLst>
              <a:ext uri="{FF2B5EF4-FFF2-40B4-BE49-F238E27FC236}">
                <a16:creationId xmlns:a16="http://schemas.microsoft.com/office/drawing/2014/main" id="{C5FC60C6-01C0-3AFB-370B-81A42131291A}"/>
              </a:ext>
            </a:extLst>
          </p:cNvPr>
          <p:cNvPicPr>
            <a:picLocks noChangeAspect="1"/>
          </p:cNvPicPr>
          <p:nvPr/>
        </p:nvPicPr>
        <p:blipFill>
          <a:blip r:embed="rId2"/>
          <a:stretch>
            <a:fillRect/>
          </a:stretch>
        </p:blipFill>
        <p:spPr>
          <a:xfrm>
            <a:off x="6752492" y="738553"/>
            <a:ext cx="4259384" cy="2520462"/>
          </a:xfrm>
          <a:prstGeom prst="rect">
            <a:avLst/>
          </a:prstGeom>
        </p:spPr>
      </p:pic>
    </p:spTree>
    <p:extLst>
      <p:ext uri="{BB962C8B-B14F-4D97-AF65-F5344CB8AC3E}">
        <p14:creationId xmlns:p14="http://schemas.microsoft.com/office/powerpoint/2010/main" val="2269777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AC8A96-548D-2F92-C1DA-DA30357650F6}"/>
              </a:ext>
            </a:extLst>
          </p:cNvPr>
          <p:cNvSpPr txBox="1"/>
          <p:nvPr/>
        </p:nvSpPr>
        <p:spPr>
          <a:xfrm>
            <a:off x="831709" y="2256470"/>
            <a:ext cx="3146322" cy="400110"/>
          </a:xfrm>
          <a:prstGeom prst="rect">
            <a:avLst/>
          </a:prstGeom>
          <a:noFill/>
        </p:spPr>
        <p:txBody>
          <a:bodyPr wrap="square" rtlCol="0">
            <a:spAutoFit/>
          </a:bodyPr>
          <a:lstStyle/>
          <a:p>
            <a:r>
              <a:rPr lang="en-IN" sz="2000" b="1" dirty="0">
                <a:latin typeface="Algerian" panose="04020705040A02060702" pitchFamily="82" charset="0"/>
              </a:rPr>
              <a:t>Problem Statement :-</a:t>
            </a:r>
          </a:p>
        </p:txBody>
      </p:sp>
      <p:sp>
        <p:nvSpPr>
          <p:cNvPr id="3" name="TextBox 2">
            <a:extLst>
              <a:ext uri="{FF2B5EF4-FFF2-40B4-BE49-F238E27FC236}">
                <a16:creationId xmlns:a16="http://schemas.microsoft.com/office/drawing/2014/main" id="{A543B72B-B254-3773-4A74-D7ABC1AB238A}"/>
              </a:ext>
            </a:extLst>
          </p:cNvPr>
          <p:cNvSpPr txBox="1"/>
          <p:nvPr/>
        </p:nvSpPr>
        <p:spPr>
          <a:xfrm>
            <a:off x="1851741" y="2767280"/>
            <a:ext cx="9173496" cy="1323439"/>
          </a:xfrm>
          <a:prstGeom prst="rect">
            <a:avLst/>
          </a:prstGeom>
          <a:noFill/>
        </p:spPr>
        <p:txBody>
          <a:bodyPr wrap="square" rtlCol="0">
            <a:spAutoFit/>
          </a:bodyPr>
          <a:lstStyle/>
          <a:p>
            <a:r>
              <a:rPr lang="en-IN" sz="2000" dirty="0"/>
              <a:t>Manual reservation systems often lead to booking errors, long waiting times, reservation conflicts, and inefficient record management. Customers cannot easily check real-time availability, and staff face difficulties in managing reservations. An automated system is required to improve efficiency and accuracy.</a:t>
            </a:r>
            <a:endParaRPr lang="en-US" sz="2000" dirty="0"/>
          </a:p>
        </p:txBody>
      </p:sp>
      <p:pic>
        <p:nvPicPr>
          <p:cNvPr id="4" name="Picture 3" descr="https://images.openai.com/static-rsc-4/iUQJR3j_iqevSRkHfx6BJwYCYmrYSo6d7NqZwOaCh7BN2-zAeA93pr6lxf5Tgc09kyhcWvIRoNg9h_gwesKD_W55Dlp7H2rt-_Wuu75TgsYjraPkapKhozFlW9JixoRAeVQnu5D0sLJ9MX3AJ6XpQuCV2ViVETsQbgxl5YS0bByvD13haTc6IjZPsrJjTEj5?purpose=fullsize">
            <a:extLst>
              <a:ext uri="{FF2B5EF4-FFF2-40B4-BE49-F238E27FC236}">
                <a16:creationId xmlns:a16="http://schemas.microsoft.com/office/drawing/2014/main" id="{DD9C76E4-E0EE-2436-2198-3EB98FF0660A}"/>
              </a:ext>
            </a:extLst>
          </p:cNvPr>
          <p:cNvPicPr>
            <a:picLocks noChangeAspect="1"/>
          </p:cNvPicPr>
          <p:nvPr/>
        </p:nvPicPr>
        <p:blipFill>
          <a:blip r:embed="rId2"/>
          <a:stretch>
            <a:fillRect/>
          </a:stretch>
        </p:blipFill>
        <p:spPr>
          <a:xfrm>
            <a:off x="7674708" y="703384"/>
            <a:ext cx="3485661" cy="2063896"/>
          </a:xfrm>
          <a:prstGeom prst="rect">
            <a:avLst/>
          </a:prstGeom>
        </p:spPr>
      </p:pic>
    </p:spTree>
    <p:extLst>
      <p:ext uri="{BB962C8B-B14F-4D97-AF65-F5344CB8AC3E}">
        <p14:creationId xmlns:p14="http://schemas.microsoft.com/office/powerpoint/2010/main" val="2551203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C598B4-6034-5794-B655-2462FC795C28}"/>
              </a:ext>
            </a:extLst>
          </p:cNvPr>
          <p:cNvSpPr txBox="1"/>
          <p:nvPr/>
        </p:nvSpPr>
        <p:spPr>
          <a:xfrm>
            <a:off x="1266092" y="2602522"/>
            <a:ext cx="4829908" cy="400110"/>
          </a:xfrm>
          <a:prstGeom prst="rect">
            <a:avLst/>
          </a:prstGeom>
          <a:noFill/>
        </p:spPr>
        <p:txBody>
          <a:bodyPr wrap="square" rtlCol="0">
            <a:spAutoFit/>
          </a:bodyPr>
          <a:lstStyle/>
          <a:p>
            <a:r>
              <a:rPr lang="en-IN" sz="2000" b="1" dirty="0">
                <a:latin typeface="Algerian" panose="04020705040A02060702" pitchFamily="82" charset="0"/>
              </a:rPr>
              <a:t>Goals:-</a:t>
            </a:r>
          </a:p>
        </p:txBody>
      </p:sp>
      <p:sp>
        <p:nvSpPr>
          <p:cNvPr id="3" name="TextBox 2">
            <a:extLst>
              <a:ext uri="{FF2B5EF4-FFF2-40B4-BE49-F238E27FC236}">
                <a16:creationId xmlns:a16="http://schemas.microsoft.com/office/drawing/2014/main" id="{F194AB12-30E9-8CAF-D711-37B564DEB12C}"/>
              </a:ext>
            </a:extLst>
          </p:cNvPr>
          <p:cNvSpPr txBox="1"/>
          <p:nvPr/>
        </p:nvSpPr>
        <p:spPr>
          <a:xfrm>
            <a:off x="1805354" y="3204308"/>
            <a:ext cx="5830277" cy="1477328"/>
          </a:xfrm>
          <a:prstGeom prst="rect">
            <a:avLst/>
          </a:prstGeom>
          <a:noFill/>
        </p:spPr>
        <p:txBody>
          <a:bodyPr wrap="square" rtlCol="0">
            <a:spAutoFit/>
          </a:bodyPr>
          <a:lstStyle/>
          <a:p>
            <a:pPr marL="285750" indent="-285750">
              <a:buFont typeface="Wingdings" panose="05000000000000000000" pitchFamily="2" charset="2"/>
              <a:buChar char="v"/>
            </a:pPr>
            <a:r>
              <a:rPr lang="en-IN" dirty="0"/>
              <a:t>Provide online hotel and restaurant reservation facilities. </a:t>
            </a:r>
          </a:p>
          <a:p>
            <a:pPr marL="285750" indent="-285750">
              <a:buFont typeface="Wingdings" panose="05000000000000000000" pitchFamily="2" charset="2"/>
              <a:buChar char="v"/>
            </a:pPr>
            <a:r>
              <a:rPr lang="en-IN" dirty="0"/>
              <a:t>Display real-time availability of rooms and tables. </a:t>
            </a:r>
          </a:p>
          <a:p>
            <a:pPr marL="285750" indent="-285750">
              <a:buFont typeface="Wingdings" panose="05000000000000000000" pitchFamily="2" charset="2"/>
              <a:buChar char="v"/>
            </a:pPr>
            <a:r>
              <a:rPr lang="en-IN" dirty="0"/>
              <a:t>Reduce manual work and booking conflicts. </a:t>
            </a:r>
          </a:p>
          <a:p>
            <a:pPr marL="285750" indent="-285750">
              <a:buFont typeface="Wingdings" panose="05000000000000000000" pitchFamily="2" charset="2"/>
              <a:buChar char="v"/>
            </a:pPr>
            <a:r>
              <a:rPr lang="en-IN" dirty="0"/>
              <a:t>Improve customer satisfaction. </a:t>
            </a:r>
          </a:p>
          <a:p>
            <a:pPr marL="285750" indent="-285750">
              <a:buFont typeface="Wingdings" panose="05000000000000000000" pitchFamily="2" charset="2"/>
              <a:buChar char="v"/>
            </a:pPr>
            <a:r>
              <a:rPr lang="en-IN" dirty="0"/>
              <a:t>Maintain reservation records securely.</a:t>
            </a:r>
          </a:p>
        </p:txBody>
      </p:sp>
      <p:pic>
        <p:nvPicPr>
          <p:cNvPr id="4" name="Picture 3" descr="Evaluating customer satisfaction with hotel services. female customer using smartphones gave a very good satisfaction rating">
            <a:extLst>
              <a:ext uri="{FF2B5EF4-FFF2-40B4-BE49-F238E27FC236}">
                <a16:creationId xmlns:a16="http://schemas.microsoft.com/office/drawing/2014/main" id="{469E8F64-90E0-6BB4-400C-16108994FBA8}"/>
              </a:ext>
            </a:extLst>
          </p:cNvPr>
          <p:cNvPicPr>
            <a:picLocks noChangeAspect="1"/>
          </p:cNvPicPr>
          <p:nvPr/>
        </p:nvPicPr>
        <p:blipFill>
          <a:blip r:embed="rId2"/>
          <a:stretch>
            <a:fillRect/>
          </a:stretch>
        </p:blipFill>
        <p:spPr>
          <a:xfrm>
            <a:off x="7561419" y="974968"/>
            <a:ext cx="3520714" cy="2346570"/>
          </a:xfrm>
          <a:prstGeom prst="rect">
            <a:avLst/>
          </a:prstGeom>
        </p:spPr>
      </p:pic>
    </p:spTree>
    <p:extLst>
      <p:ext uri="{BB962C8B-B14F-4D97-AF65-F5344CB8AC3E}">
        <p14:creationId xmlns:p14="http://schemas.microsoft.com/office/powerpoint/2010/main" val="1598167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3771E2-E0C4-E550-9FAC-2993D9CF0C09}"/>
              </a:ext>
            </a:extLst>
          </p:cNvPr>
          <p:cNvSpPr txBox="1"/>
          <p:nvPr/>
        </p:nvSpPr>
        <p:spPr>
          <a:xfrm>
            <a:off x="1187939" y="1570892"/>
            <a:ext cx="3180862" cy="677108"/>
          </a:xfrm>
          <a:prstGeom prst="rect">
            <a:avLst/>
          </a:prstGeom>
          <a:noFill/>
        </p:spPr>
        <p:txBody>
          <a:bodyPr wrap="square" rtlCol="0">
            <a:spAutoFit/>
          </a:bodyPr>
          <a:lstStyle/>
          <a:p>
            <a:r>
              <a:rPr lang="en-IN" b="1" dirty="0"/>
              <a:t> </a:t>
            </a:r>
            <a:r>
              <a:rPr lang="en-IN" sz="2000" b="1" dirty="0">
                <a:latin typeface="Algerian" panose="04020705040A02060702" pitchFamily="82" charset="0"/>
              </a:rPr>
              <a:t>Scope:-</a:t>
            </a:r>
          </a:p>
          <a:p>
            <a:endParaRPr lang="en-IN" dirty="0"/>
          </a:p>
        </p:txBody>
      </p:sp>
      <p:sp>
        <p:nvSpPr>
          <p:cNvPr id="3" name="TextBox 2">
            <a:extLst>
              <a:ext uri="{FF2B5EF4-FFF2-40B4-BE49-F238E27FC236}">
                <a16:creationId xmlns:a16="http://schemas.microsoft.com/office/drawing/2014/main" id="{387980CA-55E5-D455-9086-830D61CE008C}"/>
              </a:ext>
            </a:extLst>
          </p:cNvPr>
          <p:cNvSpPr txBox="1"/>
          <p:nvPr/>
        </p:nvSpPr>
        <p:spPr>
          <a:xfrm>
            <a:off x="1758462" y="2407137"/>
            <a:ext cx="3712307" cy="2862322"/>
          </a:xfrm>
          <a:prstGeom prst="rect">
            <a:avLst/>
          </a:prstGeom>
          <a:noFill/>
        </p:spPr>
        <p:txBody>
          <a:bodyPr wrap="square" rtlCol="0">
            <a:spAutoFit/>
          </a:bodyPr>
          <a:lstStyle/>
          <a:p>
            <a:r>
              <a:rPr lang="en-IN" b="1" dirty="0">
                <a:latin typeface="Algerian" panose="04020705040A02060702" pitchFamily="82" charset="0"/>
              </a:rPr>
              <a:t>In Scope:-</a:t>
            </a:r>
          </a:p>
          <a:p>
            <a:pPr marL="285750" indent="-285750">
              <a:buFont typeface="Arial" panose="020B0604020202020204" pitchFamily="34" charset="0"/>
              <a:buChar char="•"/>
            </a:pPr>
            <a:r>
              <a:rPr lang="en-IN" dirty="0"/>
              <a:t>User registration and login. </a:t>
            </a:r>
          </a:p>
          <a:p>
            <a:pPr marL="285750" indent="-285750">
              <a:buFont typeface="Arial" panose="020B0604020202020204" pitchFamily="34" charset="0"/>
              <a:buChar char="•"/>
            </a:pPr>
            <a:r>
              <a:rPr lang="en-IN" dirty="0"/>
              <a:t>Hotel room booking. </a:t>
            </a:r>
          </a:p>
          <a:p>
            <a:pPr marL="285750" indent="-285750">
              <a:buFont typeface="Arial" panose="020B0604020202020204" pitchFamily="34" charset="0"/>
              <a:buChar char="•"/>
            </a:pPr>
            <a:r>
              <a:rPr lang="en-IN" dirty="0"/>
              <a:t>Restaurant table reservation. </a:t>
            </a:r>
          </a:p>
          <a:p>
            <a:pPr marL="285750" indent="-285750">
              <a:buFont typeface="Arial" panose="020B0604020202020204" pitchFamily="34" charset="0"/>
              <a:buChar char="•"/>
            </a:pPr>
            <a:r>
              <a:rPr lang="en-IN" dirty="0"/>
              <a:t>Availability checking. </a:t>
            </a:r>
          </a:p>
          <a:p>
            <a:pPr marL="285750" indent="-285750">
              <a:buFont typeface="Arial" panose="020B0604020202020204" pitchFamily="34" charset="0"/>
              <a:buChar char="•"/>
            </a:pPr>
            <a:r>
              <a:rPr lang="en-IN" dirty="0"/>
              <a:t>Booking confirmation and cancellation. </a:t>
            </a:r>
          </a:p>
          <a:p>
            <a:pPr marL="285750" indent="-285750">
              <a:buFont typeface="Arial" panose="020B0604020202020204" pitchFamily="34" charset="0"/>
              <a:buChar char="•"/>
            </a:pPr>
            <a:r>
              <a:rPr lang="en-IN" dirty="0"/>
              <a:t>Reservation management for administrators. </a:t>
            </a:r>
          </a:p>
          <a:p>
            <a:r>
              <a:rPr lang="en-IN" dirty="0"/>
              <a:t>.</a:t>
            </a:r>
          </a:p>
        </p:txBody>
      </p:sp>
      <p:sp>
        <p:nvSpPr>
          <p:cNvPr id="6" name="TextBox 5">
            <a:extLst>
              <a:ext uri="{FF2B5EF4-FFF2-40B4-BE49-F238E27FC236}">
                <a16:creationId xmlns:a16="http://schemas.microsoft.com/office/drawing/2014/main" id="{4547568E-3971-CA64-4173-F2D0AF1A3D4E}"/>
              </a:ext>
            </a:extLst>
          </p:cNvPr>
          <p:cNvSpPr txBox="1"/>
          <p:nvPr/>
        </p:nvSpPr>
        <p:spPr>
          <a:xfrm>
            <a:off x="6363677" y="2407137"/>
            <a:ext cx="4593493" cy="1477328"/>
          </a:xfrm>
          <a:prstGeom prst="rect">
            <a:avLst/>
          </a:prstGeom>
          <a:noFill/>
        </p:spPr>
        <p:txBody>
          <a:bodyPr wrap="square">
            <a:spAutoFit/>
          </a:bodyPr>
          <a:lstStyle/>
          <a:p>
            <a:r>
              <a:rPr lang="en-IN" b="1" dirty="0">
                <a:latin typeface="Algerian" panose="04020705040A02060702" pitchFamily="82" charset="0"/>
              </a:rPr>
              <a:t>Out of Scope:-</a:t>
            </a:r>
          </a:p>
          <a:p>
            <a:pPr marL="285750" indent="-285750">
              <a:buFont typeface="Arial" panose="020B0604020202020204" pitchFamily="34" charset="0"/>
              <a:buChar char="•"/>
            </a:pPr>
            <a:r>
              <a:rPr lang="en-IN" dirty="0"/>
              <a:t>Online payment gateway integration. </a:t>
            </a:r>
          </a:p>
          <a:p>
            <a:pPr marL="285750" indent="-285750">
              <a:buFont typeface="Arial" panose="020B0604020202020204" pitchFamily="34" charset="0"/>
              <a:buChar char="•"/>
            </a:pPr>
            <a:r>
              <a:rPr lang="en-IN" dirty="0"/>
              <a:t>Third-party travel services. </a:t>
            </a:r>
          </a:p>
          <a:p>
            <a:pPr marL="285750" indent="-285750">
              <a:buFont typeface="Arial" panose="020B0604020202020204" pitchFamily="34" charset="0"/>
              <a:buChar char="•"/>
            </a:pPr>
            <a:r>
              <a:rPr lang="en-IN" dirty="0"/>
              <a:t>Delivery services. </a:t>
            </a:r>
          </a:p>
          <a:p>
            <a:pPr marL="285750" indent="-285750">
              <a:buFont typeface="Arial" panose="020B0604020202020204" pitchFamily="34" charset="0"/>
              <a:buChar char="•"/>
            </a:pPr>
            <a:r>
              <a:rPr lang="en-IN" dirty="0"/>
              <a:t>Advanced AI recommendation systems</a:t>
            </a:r>
          </a:p>
        </p:txBody>
      </p:sp>
    </p:spTree>
    <p:extLst>
      <p:ext uri="{BB962C8B-B14F-4D97-AF65-F5344CB8AC3E}">
        <p14:creationId xmlns:p14="http://schemas.microsoft.com/office/powerpoint/2010/main" val="4209160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E7EB5E-D3BF-6581-D29F-0126A925A9DD}"/>
              </a:ext>
            </a:extLst>
          </p:cNvPr>
          <p:cNvSpPr txBox="1"/>
          <p:nvPr/>
        </p:nvSpPr>
        <p:spPr>
          <a:xfrm>
            <a:off x="1630838" y="3429000"/>
            <a:ext cx="3001107" cy="1785104"/>
          </a:xfrm>
          <a:prstGeom prst="rect">
            <a:avLst/>
          </a:prstGeom>
          <a:noFill/>
        </p:spPr>
        <p:txBody>
          <a:bodyPr wrap="square" rtlCol="0">
            <a:spAutoFit/>
          </a:bodyPr>
          <a:lstStyle/>
          <a:p>
            <a:r>
              <a:rPr lang="en-IN" sz="2000" b="1" dirty="0">
                <a:latin typeface="Algerian" panose="04020705040A02060702" pitchFamily="82" charset="0"/>
              </a:rPr>
              <a:t>Users:-</a:t>
            </a:r>
          </a:p>
          <a:p>
            <a:pPr marL="285750" indent="-285750">
              <a:buFont typeface="Wingdings" panose="05000000000000000000" pitchFamily="2" charset="2"/>
              <a:buChar char="q"/>
            </a:pPr>
            <a:r>
              <a:rPr lang="en-IN" dirty="0"/>
              <a:t>Customers/Guests </a:t>
            </a:r>
          </a:p>
          <a:p>
            <a:pPr marL="285750" indent="-285750">
              <a:buFont typeface="Wingdings" panose="05000000000000000000" pitchFamily="2" charset="2"/>
              <a:buChar char="q"/>
            </a:pPr>
            <a:r>
              <a:rPr lang="en-IN" dirty="0"/>
              <a:t>Hotel Management </a:t>
            </a:r>
          </a:p>
          <a:p>
            <a:pPr marL="285750" indent="-285750">
              <a:buFont typeface="Wingdings" panose="05000000000000000000" pitchFamily="2" charset="2"/>
              <a:buChar char="q"/>
            </a:pPr>
            <a:r>
              <a:rPr lang="en-IN" dirty="0"/>
              <a:t>Restaurant Staff </a:t>
            </a:r>
          </a:p>
          <a:p>
            <a:pPr marL="285750" indent="-285750">
              <a:buFont typeface="Wingdings" panose="05000000000000000000" pitchFamily="2" charset="2"/>
              <a:buChar char="q"/>
            </a:pPr>
            <a:r>
              <a:rPr lang="en-IN" dirty="0"/>
              <a:t>System Administrator</a:t>
            </a:r>
          </a:p>
          <a:p>
            <a:endParaRPr lang="en-IN" dirty="0"/>
          </a:p>
        </p:txBody>
      </p:sp>
      <p:sp>
        <p:nvSpPr>
          <p:cNvPr id="3" name="TextBox 2">
            <a:extLst>
              <a:ext uri="{FF2B5EF4-FFF2-40B4-BE49-F238E27FC236}">
                <a16:creationId xmlns:a16="http://schemas.microsoft.com/office/drawing/2014/main" id="{40DEFB60-879A-A22A-2273-E0E7BE602B70}"/>
              </a:ext>
            </a:extLst>
          </p:cNvPr>
          <p:cNvSpPr txBox="1"/>
          <p:nvPr/>
        </p:nvSpPr>
        <p:spPr>
          <a:xfrm>
            <a:off x="6481572" y="1574801"/>
            <a:ext cx="4149969" cy="3447098"/>
          </a:xfrm>
          <a:prstGeom prst="rect">
            <a:avLst/>
          </a:prstGeom>
          <a:noFill/>
        </p:spPr>
        <p:txBody>
          <a:bodyPr wrap="square" rtlCol="0">
            <a:spAutoFit/>
          </a:bodyPr>
          <a:lstStyle/>
          <a:p>
            <a:r>
              <a:rPr lang="en-IN" sz="2000" b="1" dirty="0">
                <a:latin typeface="Algerian" panose="04020705040A02060702" pitchFamily="82" charset="0"/>
              </a:rPr>
              <a:t>Functional Requirements:-</a:t>
            </a:r>
          </a:p>
          <a:p>
            <a:pPr marL="285750" indent="-285750">
              <a:buFont typeface="Wingdings" panose="05000000000000000000" pitchFamily="2" charset="2"/>
              <a:buChar char="ü"/>
            </a:pPr>
            <a:r>
              <a:rPr lang="en-IN" dirty="0"/>
              <a:t>User Registration and Login. </a:t>
            </a:r>
          </a:p>
          <a:p>
            <a:pPr marL="285750" indent="-285750">
              <a:buFont typeface="Wingdings" panose="05000000000000000000" pitchFamily="2" charset="2"/>
              <a:buChar char="ü"/>
            </a:pPr>
            <a:r>
              <a:rPr lang="en-IN" dirty="0"/>
              <a:t>Search Hotels and Restaurants. </a:t>
            </a:r>
          </a:p>
          <a:p>
            <a:pPr marL="285750" indent="-285750">
              <a:buFont typeface="Wingdings" panose="05000000000000000000" pitchFamily="2" charset="2"/>
              <a:buChar char="ü"/>
            </a:pPr>
            <a:r>
              <a:rPr lang="en-IN" dirty="0"/>
              <a:t>Check Room/Table Availability. </a:t>
            </a:r>
          </a:p>
          <a:p>
            <a:pPr marL="285750" indent="-285750">
              <a:buFont typeface="Wingdings" panose="05000000000000000000" pitchFamily="2" charset="2"/>
              <a:buChar char="ü"/>
            </a:pPr>
            <a:r>
              <a:rPr lang="en-IN" dirty="0"/>
              <a:t>Make Reservations. </a:t>
            </a:r>
          </a:p>
          <a:p>
            <a:pPr marL="285750" indent="-285750">
              <a:buFont typeface="Wingdings" panose="05000000000000000000" pitchFamily="2" charset="2"/>
              <a:buChar char="ü"/>
            </a:pPr>
            <a:r>
              <a:rPr lang="en-IN" dirty="0"/>
              <a:t>View Booking Details. </a:t>
            </a:r>
          </a:p>
          <a:p>
            <a:pPr marL="285750" indent="-285750">
              <a:buFont typeface="Wingdings" panose="05000000000000000000" pitchFamily="2" charset="2"/>
              <a:buChar char="ü"/>
            </a:pPr>
            <a:r>
              <a:rPr lang="en-IN" dirty="0"/>
              <a:t>Cancel Reservations. </a:t>
            </a:r>
          </a:p>
          <a:p>
            <a:pPr marL="285750" indent="-285750">
              <a:buFont typeface="Wingdings" panose="05000000000000000000" pitchFamily="2" charset="2"/>
              <a:buChar char="ü"/>
            </a:pPr>
            <a:r>
              <a:rPr lang="en-IN" dirty="0"/>
              <a:t>Manage Customer Records. </a:t>
            </a:r>
          </a:p>
          <a:p>
            <a:pPr marL="285750" indent="-285750">
              <a:buFont typeface="Wingdings" panose="05000000000000000000" pitchFamily="2" charset="2"/>
              <a:buChar char="ü"/>
            </a:pPr>
            <a:r>
              <a:rPr lang="en-IN" dirty="0"/>
              <a:t>Admin Dashboard for Reservation Management. </a:t>
            </a:r>
          </a:p>
          <a:p>
            <a:pPr marL="285750" indent="-285750">
              <a:buFont typeface="Wingdings" panose="05000000000000000000" pitchFamily="2" charset="2"/>
              <a:buChar char="ü"/>
            </a:pPr>
            <a:r>
              <a:rPr lang="en-IN" dirty="0"/>
              <a:t>Real-time Availability Updates. </a:t>
            </a:r>
          </a:p>
          <a:p>
            <a:endParaRPr lang="en-IN" dirty="0"/>
          </a:p>
        </p:txBody>
      </p:sp>
      <p:pic>
        <p:nvPicPr>
          <p:cNvPr id="4" name="Picture 3" descr="https://images.openai.com/static-rsc-4/ZACXAeeRlurJJ8ZY_zwSf78J3BVdF2IQ6Y8bVCI7AIZaZX-Eg1ojbQKKLC8BHH8wFljeGLoP_nvLxCVSYKrcLwG2TeGwNh0U8TPVPrctWamv6Wi6QY9rb2WXwexNIDlGtXAZPcQIIQsieIfBt5o8WjCuejv3NysCs5K6BAFrgiHNjLEaKzd-s0VMM0riFpcu?purpose=fullsize">
            <a:extLst>
              <a:ext uri="{FF2B5EF4-FFF2-40B4-BE49-F238E27FC236}">
                <a16:creationId xmlns:a16="http://schemas.microsoft.com/office/drawing/2014/main" id="{A09A6BC8-2301-E27A-F8CE-D185E4081B74}"/>
              </a:ext>
            </a:extLst>
          </p:cNvPr>
          <p:cNvPicPr>
            <a:picLocks noChangeAspect="1"/>
          </p:cNvPicPr>
          <p:nvPr/>
        </p:nvPicPr>
        <p:blipFill>
          <a:blip r:embed="rId2"/>
          <a:stretch>
            <a:fillRect/>
          </a:stretch>
        </p:blipFill>
        <p:spPr>
          <a:xfrm>
            <a:off x="1250460" y="962004"/>
            <a:ext cx="3381485" cy="1902802"/>
          </a:xfrm>
          <a:prstGeom prst="rect">
            <a:avLst/>
          </a:prstGeom>
        </p:spPr>
      </p:pic>
    </p:spTree>
    <p:extLst>
      <p:ext uri="{BB962C8B-B14F-4D97-AF65-F5344CB8AC3E}">
        <p14:creationId xmlns:p14="http://schemas.microsoft.com/office/powerpoint/2010/main" val="2823314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925241-DC07-8488-0D7C-9026FB11480E}"/>
              </a:ext>
            </a:extLst>
          </p:cNvPr>
          <p:cNvSpPr txBox="1"/>
          <p:nvPr/>
        </p:nvSpPr>
        <p:spPr>
          <a:xfrm rot="10800000" flipH="1" flipV="1">
            <a:off x="1122577" y="1089898"/>
            <a:ext cx="4652992" cy="2339102"/>
          </a:xfrm>
          <a:prstGeom prst="rect">
            <a:avLst/>
          </a:prstGeom>
          <a:noFill/>
        </p:spPr>
        <p:txBody>
          <a:bodyPr wrap="square" rtlCol="0">
            <a:spAutoFit/>
          </a:bodyPr>
          <a:lstStyle/>
          <a:p>
            <a:r>
              <a:rPr lang="en-IN" sz="2000" b="1" dirty="0">
                <a:latin typeface="Algerian" panose="04020705040A02060702" pitchFamily="82" charset="0"/>
              </a:rPr>
              <a:t>Non-Functional Requirements:-</a:t>
            </a:r>
          </a:p>
          <a:p>
            <a:pPr marL="285750" indent="-285750">
              <a:buFont typeface="Wingdings" panose="05000000000000000000" pitchFamily="2" charset="2"/>
              <a:buChar char="Ø"/>
            </a:pPr>
            <a:r>
              <a:rPr lang="en-IN" dirty="0"/>
              <a:t>User-friendly Interface. </a:t>
            </a:r>
          </a:p>
          <a:p>
            <a:pPr marL="285750" indent="-285750">
              <a:buFont typeface="Wingdings" panose="05000000000000000000" pitchFamily="2" charset="2"/>
              <a:buChar char="Ø"/>
            </a:pPr>
            <a:r>
              <a:rPr lang="en-IN" dirty="0"/>
              <a:t>Fast Response Time. </a:t>
            </a:r>
          </a:p>
          <a:p>
            <a:pPr marL="285750" indent="-285750">
              <a:buFont typeface="Wingdings" panose="05000000000000000000" pitchFamily="2" charset="2"/>
              <a:buChar char="Ø"/>
            </a:pPr>
            <a:r>
              <a:rPr lang="en-IN" dirty="0"/>
              <a:t>Secure Data Storage. </a:t>
            </a:r>
          </a:p>
          <a:p>
            <a:pPr marL="285750" indent="-285750">
              <a:buFont typeface="Wingdings" panose="05000000000000000000" pitchFamily="2" charset="2"/>
              <a:buChar char="Ø"/>
            </a:pPr>
            <a:r>
              <a:rPr lang="en-IN" dirty="0"/>
              <a:t>Reliability and Availability. </a:t>
            </a:r>
          </a:p>
          <a:p>
            <a:pPr marL="285750" indent="-285750">
              <a:buFont typeface="Wingdings" panose="05000000000000000000" pitchFamily="2" charset="2"/>
              <a:buChar char="Ø"/>
            </a:pPr>
            <a:r>
              <a:rPr lang="en-IN" dirty="0"/>
              <a:t>Scalability. </a:t>
            </a:r>
          </a:p>
          <a:p>
            <a:pPr marL="285750" indent="-285750">
              <a:buFont typeface="Wingdings" panose="05000000000000000000" pitchFamily="2" charset="2"/>
              <a:buChar char="Ø"/>
            </a:pPr>
            <a:r>
              <a:rPr lang="en-IN" dirty="0"/>
              <a:t>Cross-Platform Compatibility. </a:t>
            </a:r>
          </a:p>
          <a:p>
            <a:pPr marL="285750" indent="-285750">
              <a:buFont typeface="Wingdings" panose="05000000000000000000" pitchFamily="2" charset="2"/>
              <a:buChar char="Ø"/>
            </a:pPr>
            <a:r>
              <a:rPr lang="en-IN" dirty="0"/>
              <a:t>Data Privacy and Security.</a:t>
            </a:r>
          </a:p>
        </p:txBody>
      </p:sp>
      <p:sp>
        <p:nvSpPr>
          <p:cNvPr id="3" name="TextBox 2">
            <a:extLst>
              <a:ext uri="{FF2B5EF4-FFF2-40B4-BE49-F238E27FC236}">
                <a16:creationId xmlns:a16="http://schemas.microsoft.com/office/drawing/2014/main" id="{CAD66815-0D7B-7D95-EC49-9BD7CE67F314}"/>
              </a:ext>
            </a:extLst>
          </p:cNvPr>
          <p:cNvSpPr txBox="1"/>
          <p:nvPr/>
        </p:nvSpPr>
        <p:spPr>
          <a:xfrm>
            <a:off x="6643076" y="3180861"/>
            <a:ext cx="4517293" cy="2616101"/>
          </a:xfrm>
          <a:prstGeom prst="rect">
            <a:avLst/>
          </a:prstGeom>
          <a:noFill/>
        </p:spPr>
        <p:txBody>
          <a:bodyPr wrap="square" rtlCol="0">
            <a:spAutoFit/>
          </a:bodyPr>
          <a:lstStyle/>
          <a:p>
            <a:r>
              <a:rPr lang="en-IN" sz="2000" b="1" dirty="0">
                <a:latin typeface="Algerian" panose="04020705040A02060702" pitchFamily="82" charset="0"/>
              </a:rPr>
              <a:t>Assumptions:-</a:t>
            </a:r>
          </a:p>
          <a:p>
            <a:pPr marL="285750" indent="-285750">
              <a:buFont typeface="Wingdings" panose="05000000000000000000" pitchFamily="2" charset="2"/>
              <a:buChar char="q"/>
            </a:pPr>
            <a:r>
              <a:rPr lang="en-IN" dirty="0"/>
              <a:t>Users have internet access. </a:t>
            </a:r>
          </a:p>
          <a:p>
            <a:pPr marL="285750" indent="-285750">
              <a:buFont typeface="Wingdings" panose="05000000000000000000" pitchFamily="2" charset="2"/>
              <a:buChar char="q"/>
            </a:pPr>
            <a:r>
              <a:rPr lang="en-IN" dirty="0"/>
              <a:t>Hotel and restaurant details are updated regularly. </a:t>
            </a:r>
          </a:p>
          <a:p>
            <a:pPr marL="285750" indent="-285750">
              <a:buFont typeface="Wingdings" panose="05000000000000000000" pitchFamily="2" charset="2"/>
              <a:buChar char="q"/>
            </a:pPr>
            <a:r>
              <a:rPr lang="en-IN" dirty="0"/>
              <a:t>Customers provide valid information during registration. </a:t>
            </a:r>
          </a:p>
          <a:p>
            <a:pPr marL="285750" indent="-285750">
              <a:buFont typeface="Wingdings" panose="05000000000000000000" pitchFamily="2" charset="2"/>
              <a:buChar char="q"/>
            </a:pPr>
            <a:r>
              <a:rPr lang="en-IN" dirty="0"/>
              <a:t>The system database remains operational. </a:t>
            </a:r>
          </a:p>
          <a:p>
            <a:pPr marL="285750" indent="-285750">
              <a:buFont typeface="Wingdings" panose="05000000000000000000" pitchFamily="2" charset="2"/>
              <a:buChar char="q"/>
            </a:pPr>
            <a:r>
              <a:rPr lang="en-IN" dirty="0"/>
              <a:t>Administrators manage reservation records properly.</a:t>
            </a:r>
          </a:p>
        </p:txBody>
      </p:sp>
    </p:spTree>
    <p:extLst>
      <p:ext uri="{BB962C8B-B14F-4D97-AF65-F5344CB8AC3E}">
        <p14:creationId xmlns:p14="http://schemas.microsoft.com/office/powerpoint/2010/main" val="1377606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ED5CFD-C8A9-FBDA-F3B3-4D46818C2447}"/>
              </a:ext>
            </a:extLst>
          </p:cNvPr>
          <p:cNvSpPr txBox="1"/>
          <p:nvPr/>
        </p:nvSpPr>
        <p:spPr>
          <a:xfrm>
            <a:off x="2157046" y="2723684"/>
            <a:ext cx="6744677" cy="2616101"/>
          </a:xfrm>
          <a:prstGeom prst="rect">
            <a:avLst/>
          </a:prstGeom>
          <a:noFill/>
        </p:spPr>
        <p:txBody>
          <a:bodyPr wrap="square" rtlCol="0">
            <a:spAutoFit/>
          </a:bodyPr>
          <a:lstStyle/>
          <a:p>
            <a:endParaRPr lang="en-IN" sz="2000" b="1" dirty="0">
              <a:latin typeface="Algerian" panose="04020705040A02060702" pitchFamily="82" charset="0"/>
            </a:endParaRPr>
          </a:p>
          <a:p>
            <a:pPr marL="285750" indent="-285750">
              <a:buFont typeface="Wingdings" panose="05000000000000000000" pitchFamily="2" charset="2"/>
              <a:buChar char="v"/>
            </a:pPr>
            <a:r>
              <a:rPr lang="en-IN" dirty="0"/>
              <a:t>Users can successfully register and log in. </a:t>
            </a:r>
          </a:p>
          <a:p>
            <a:pPr marL="285750" indent="-285750">
              <a:buFont typeface="Wingdings" panose="05000000000000000000" pitchFamily="2" charset="2"/>
              <a:buChar char="v"/>
            </a:pPr>
            <a:r>
              <a:rPr lang="en-IN" dirty="0"/>
              <a:t>Customers can book hotel rooms and restaurant tables. </a:t>
            </a:r>
          </a:p>
          <a:p>
            <a:pPr marL="285750" indent="-285750">
              <a:buFont typeface="Wingdings" panose="05000000000000000000" pitchFamily="2" charset="2"/>
              <a:buChar char="v"/>
            </a:pPr>
            <a:r>
              <a:rPr lang="en-IN" dirty="0"/>
              <a:t>Real-time availability is displayed correctly. </a:t>
            </a:r>
          </a:p>
          <a:p>
            <a:pPr marL="285750" indent="-285750">
              <a:buFont typeface="Wingdings" panose="05000000000000000000" pitchFamily="2" charset="2"/>
              <a:buChar char="v"/>
            </a:pPr>
            <a:r>
              <a:rPr lang="en-IN" dirty="0"/>
              <a:t>Booking confirmation is generated successfully. </a:t>
            </a:r>
          </a:p>
          <a:p>
            <a:pPr marL="285750" indent="-285750">
              <a:buFont typeface="Wingdings" panose="05000000000000000000" pitchFamily="2" charset="2"/>
              <a:buChar char="v"/>
            </a:pPr>
            <a:r>
              <a:rPr lang="en-IN" dirty="0"/>
              <a:t>Reservations are stored and managed without errors. </a:t>
            </a:r>
          </a:p>
          <a:p>
            <a:pPr marL="285750" indent="-285750">
              <a:buFont typeface="Wingdings" panose="05000000000000000000" pitchFamily="2" charset="2"/>
              <a:buChar char="v"/>
            </a:pPr>
            <a:r>
              <a:rPr lang="en-IN" dirty="0"/>
              <a:t>Admin can view and manage all reservations. </a:t>
            </a:r>
          </a:p>
          <a:p>
            <a:pPr marL="285750" indent="-285750">
              <a:buFont typeface="Wingdings" panose="05000000000000000000" pitchFamily="2" charset="2"/>
              <a:buChar char="v"/>
            </a:pPr>
            <a:r>
              <a:rPr lang="en-IN" dirty="0"/>
              <a:t>System operates smoothly without booking conflicts.</a:t>
            </a:r>
          </a:p>
          <a:p>
            <a:endParaRPr lang="en-IN" dirty="0"/>
          </a:p>
        </p:txBody>
      </p:sp>
      <p:sp>
        <p:nvSpPr>
          <p:cNvPr id="3" name="TextBox 2">
            <a:extLst>
              <a:ext uri="{FF2B5EF4-FFF2-40B4-BE49-F238E27FC236}">
                <a16:creationId xmlns:a16="http://schemas.microsoft.com/office/drawing/2014/main" id="{80325158-E3B3-B457-8172-49DE866DCF8D}"/>
              </a:ext>
            </a:extLst>
          </p:cNvPr>
          <p:cNvSpPr txBox="1"/>
          <p:nvPr/>
        </p:nvSpPr>
        <p:spPr>
          <a:xfrm>
            <a:off x="1312984" y="2456934"/>
            <a:ext cx="3423139" cy="369332"/>
          </a:xfrm>
          <a:prstGeom prst="rect">
            <a:avLst/>
          </a:prstGeom>
          <a:noFill/>
        </p:spPr>
        <p:txBody>
          <a:bodyPr wrap="square" rtlCol="0">
            <a:spAutoFit/>
          </a:bodyPr>
          <a:lstStyle/>
          <a:p>
            <a:r>
              <a:rPr lang="en-IN" b="1">
                <a:latin typeface="Algerian" panose="04020705040A02060702" pitchFamily="82" charset="0"/>
              </a:rPr>
              <a:t>Acceptance Criteria:-</a:t>
            </a:r>
            <a:endParaRPr lang="en-IN" b="1" dirty="0">
              <a:latin typeface="Algerian" panose="04020705040A02060702" pitchFamily="82" charset="0"/>
            </a:endParaRPr>
          </a:p>
        </p:txBody>
      </p:sp>
    </p:spTree>
    <p:extLst>
      <p:ext uri="{BB962C8B-B14F-4D97-AF65-F5344CB8AC3E}">
        <p14:creationId xmlns:p14="http://schemas.microsoft.com/office/powerpoint/2010/main" val="3320021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0C19A3-0FC1-DA71-AADD-B03BBAEF4FAE}"/>
              </a:ext>
            </a:extLst>
          </p:cNvPr>
          <p:cNvSpPr txBox="1"/>
          <p:nvPr/>
        </p:nvSpPr>
        <p:spPr>
          <a:xfrm>
            <a:off x="1720647" y="2644170"/>
            <a:ext cx="9094839" cy="1569660"/>
          </a:xfrm>
          <a:prstGeom prst="rect">
            <a:avLst/>
          </a:prstGeom>
          <a:noFill/>
        </p:spPr>
        <p:txBody>
          <a:bodyPr wrap="square" rtlCol="0">
            <a:spAutoFit/>
          </a:bodyPr>
          <a:lstStyle/>
          <a:p>
            <a:r>
              <a:rPr lang="en-US" sz="9600" dirty="0">
                <a:latin typeface="+mj-lt"/>
              </a:rPr>
              <a:t>*THANK YOU*</a:t>
            </a:r>
            <a:endParaRPr lang="en-IN" sz="9600" dirty="0">
              <a:latin typeface="+mj-lt"/>
            </a:endParaRPr>
          </a:p>
        </p:txBody>
      </p:sp>
    </p:spTree>
    <p:extLst>
      <p:ext uri="{BB962C8B-B14F-4D97-AF65-F5344CB8AC3E}">
        <p14:creationId xmlns:p14="http://schemas.microsoft.com/office/powerpoint/2010/main" val="104724602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62</TotalTime>
  <Words>508</Words>
  <Application>Microsoft Office PowerPoint</Application>
  <PresentationFormat>Widescreen</PresentationFormat>
  <Paragraphs>72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Algerian</vt:lpstr>
      <vt:lpstr>Arial</vt:lpstr>
      <vt:lpstr>Garamond</vt:lpstr>
      <vt:lpstr>Wingdings</vt:lpstr>
      <vt:lpstr>Organic</vt:lpstr>
      <vt:lpstr>Hotel Restaurant Reservation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pardhu singampalli</dc:creator>
  <cp:lastModifiedBy>pardhu singampalli</cp:lastModifiedBy>
  <cp:revision>2</cp:revision>
  <dcterms:created xsi:type="dcterms:W3CDTF">2026-05-08T09:01:18Z</dcterms:created>
  <dcterms:modified xsi:type="dcterms:W3CDTF">2026-06-19T07:09:25Z</dcterms:modified>
</cp:coreProperties>
</file>